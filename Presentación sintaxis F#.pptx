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  <p:embeddedFont>
      <p:font typeface="Merriweath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schemas.openxmlformats.org/officeDocument/2006/relationships/font" Target="fonts/Merriweather-regular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boldItalic.fntdata"/><Relationship Id="rId30" Type="http://schemas.openxmlformats.org/officeDocument/2006/relationships/font" Target="fonts/Merriweath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63ef553b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63ef553b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3ef553b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63ef553b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3ef553b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3ef553b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63ef553b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63ef553b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63ef553b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63ef553b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63ef553b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63ef553b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64851b727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64851b727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64851b727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64851b727_1_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64851b727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f64851b727_2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64851b727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64851b727_2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2d080616c88abb2f_1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h2d080616c88abb2f_18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6b123df9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6b123df9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644eef32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644eef32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751100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Lenguaje F#</a:t>
            </a:r>
            <a:endParaRPr sz="41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4406575" y="3714750"/>
            <a:ext cx="4638600" cy="9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33">
                <a:solidFill>
                  <a:schemeClr val="lt1"/>
                </a:solidFill>
              </a:rPr>
              <a:t>Grupo 20</a:t>
            </a:r>
            <a:endParaRPr sz="3533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64">
                <a:solidFill>
                  <a:schemeClr val="lt1"/>
                </a:solidFill>
              </a:rPr>
              <a:t>Integrantes: Leonardo Benavente, Rodrigo Flor, Pablo Lazaga y </a:t>
            </a:r>
            <a:r>
              <a:rPr lang="es" sz="2064">
                <a:solidFill>
                  <a:schemeClr val="lt1"/>
                </a:solidFill>
              </a:rPr>
              <a:t>Valentín</a:t>
            </a:r>
            <a:r>
              <a:rPr lang="es" sz="2064">
                <a:solidFill>
                  <a:schemeClr val="lt1"/>
                </a:solidFill>
              </a:rPr>
              <a:t> Penna</a:t>
            </a:r>
            <a:endParaRPr sz="2064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Creador de  F#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Creador: Don Syme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Microsoft Researcher</a:t>
            </a:r>
            <a:r>
              <a:rPr lang="es" sz="2000"/>
              <a:t>  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/>
              <a:t> 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Cambridge, Inglaterra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900" y="1458825"/>
            <a:ext cx="2722150" cy="272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Historia de F#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1730425" y="3252575"/>
            <a:ext cx="13731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2006</a:t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646650" y="2812400"/>
            <a:ext cx="8497200" cy="21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41375" y="2752100"/>
            <a:ext cx="285900" cy="33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27825" y="2178875"/>
            <a:ext cx="1113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Diciembre 2001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0" y="3325325"/>
            <a:ext cx="1575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Nacimiento de F#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8128300" y="2725100"/>
            <a:ext cx="285900" cy="384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2274025" y="2752100"/>
            <a:ext cx="285900" cy="33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286100" y="2752100"/>
            <a:ext cx="285900" cy="33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049125" y="2752100"/>
            <a:ext cx="285900" cy="33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7584700" y="2178875"/>
            <a:ext cx="13731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2016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5505525" y="3252575"/>
            <a:ext cx="13731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2014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742500" y="2178875"/>
            <a:ext cx="13731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2010</a:t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5260125" y="1834600"/>
            <a:ext cx="1863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Contribuciones</a:t>
            </a:r>
            <a:r>
              <a:rPr lang="e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 la comunidad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565725" y="1740175"/>
            <a:ext cx="1702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Microsoft decide </a:t>
            </a:r>
            <a:r>
              <a:rPr lang="e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comercializarlo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3669750" y="3325325"/>
            <a:ext cx="1575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Lanzamiento oficial en Visual Studio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7241800" y="3325325"/>
            <a:ext cx="205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Lenguaje totalmente multiplataforma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8901300" y="2600275"/>
            <a:ext cx="242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</a:t>
            </a:r>
            <a:r>
              <a:rPr lang="es"/>
              <a:t>Características</a:t>
            </a:r>
            <a:r>
              <a:rPr lang="es"/>
              <a:t> Principales de F#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529775" y="1491600"/>
            <a:ext cx="1775100" cy="442500"/>
          </a:xfrm>
          <a:prstGeom prst="rect">
            <a:avLst/>
          </a:prstGeom>
        </p:spPr>
        <p:txBody>
          <a:bodyPr anchorCtr="0" anchor="t" bIns="106750" lIns="106750" spcFirstLastPara="1" rIns="106750" wrap="square" tIns="10675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401"/>
              </a:spcAft>
              <a:buNone/>
            </a:pPr>
            <a:r>
              <a:rPr b="1" lang="es" sz="1518">
                <a:solidFill>
                  <a:schemeClr val="dk1"/>
                </a:solidFill>
              </a:rPr>
              <a:t>Multiparadigma</a:t>
            </a:r>
            <a:endParaRPr b="1" sz="1518">
              <a:solidFill>
                <a:schemeClr val="dk1"/>
              </a:solidFill>
            </a:endParaRPr>
          </a:p>
        </p:txBody>
      </p:sp>
      <p:sp>
        <p:nvSpPr>
          <p:cNvPr id="101" name="Google Shape;101;p16"/>
          <p:cNvSpPr txBox="1"/>
          <p:nvPr>
            <p:ph idx="2" type="body"/>
          </p:nvPr>
        </p:nvSpPr>
        <p:spPr>
          <a:xfrm>
            <a:off x="4946322" y="1429100"/>
            <a:ext cx="1263600" cy="454800"/>
          </a:xfrm>
          <a:prstGeom prst="rect">
            <a:avLst/>
          </a:prstGeom>
        </p:spPr>
        <p:txBody>
          <a:bodyPr anchorCtr="0" anchor="t" bIns="109750" lIns="109750" spcFirstLastPara="1" rIns="109750" wrap="square" tIns="109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41"/>
              </a:spcAft>
              <a:buSzPts val="1018"/>
              <a:buNone/>
            </a:pPr>
            <a:r>
              <a:rPr b="1" lang="es" sz="1844">
                <a:solidFill>
                  <a:schemeClr val="dk1"/>
                </a:solidFill>
              </a:rPr>
              <a:t>Funcional</a:t>
            </a:r>
            <a:endParaRPr b="1" sz="1844">
              <a:solidFill>
                <a:schemeClr val="dk1"/>
              </a:solidFill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2847736" y="2729541"/>
            <a:ext cx="884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6600" lIns="126600" spcFirstLastPara="1" rIns="126600" wrap="square" tIns="12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.NET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7002148" y="2729558"/>
            <a:ext cx="1561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350" lIns="117350" spcFirstLastPara="1" rIns="117350" wrap="square" tIns="117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69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 Source</a:t>
            </a:r>
            <a:endParaRPr b="1" sz="166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8000" y="3327091"/>
            <a:ext cx="1503235" cy="1503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570000" y="3328325"/>
            <a:ext cx="1439575" cy="143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8165" y="1883912"/>
            <a:ext cx="2131061" cy="2131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772" y="2058650"/>
            <a:ext cx="1715532" cy="157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/>
          <p:nvPr/>
        </p:nvSpPr>
        <p:spPr>
          <a:xfrm>
            <a:off x="1862175" y="829750"/>
            <a:ext cx="1862100" cy="7128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</a:t>
            </a:r>
            <a:r>
              <a:rPr lang="es"/>
              <a:t> C#</a:t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5067000" y="1890675"/>
            <a:ext cx="2239002" cy="686394"/>
          </a:xfrm>
          <a:prstGeom prst="flowChartTerminator">
            <a:avLst/>
          </a:prstGeom>
          <a:solidFill>
            <a:srgbClr val="6AA84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Compilador de F#(fsc)</a:t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1327125" y="1890650"/>
            <a:ext cx="2018700" cy="6864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Compilador de C#(csc)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2059075" y="2927850"/>
            <a:ext cx="4158300" cy="686400"/>
          </a:xfrm>
          <a:prstGeom prst="flowChartAlternateProcess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CIL(Common Intermediate Language)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1683025" y="3965025"/>
            <a:ext cx="4910400" cy="686400"/>
          </a:xfrm>
          <a:prstGeom prst="flowChartAlternateProcess">
            <a:avLst/>
          </a:prstGeom>
          <a:solidFill>
            <a:srgbClr val="45818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CoreCLR = RyuJIT(compilador JIT) + Recolector de basura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532150" y="856088"/>
            <a:ext cx="2018700" cy="686400"/>
          </a:xfrm>
          <a:prstGeom prst="flowChartTerminator">
            <a:avLst/>
          </a:prstGeom>
          <a:solidFill>
            <a:srgbClr val="6AA84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</a:t>
            </a:r>
            <a:r>
              <a:rPr lang="es"/>
              <a:t> F#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2493025" y="113950"/>
            <a:ext cx="329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Semejanza entre F# y C#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" name="Google Shape;119;p17"/>
          <p:cNvCxnSpPr>
            <a:stCxn id="112" idx="2"/>
            <a:endCxn id="114" idx="0"/>
          </p:cNvCxnSpPr>
          <p:nvPr/>
        </p:nvCxnSpPr>
        <p:spPr>
          <a:xfrm rot="5400000">
            <a:off x="2390925" y="1488250"/>
            <a:ext cx="348000" cy="456600"/>
          </a:xfrm>
          <a:prstGeom prst="curvedConnector3">
            <a:avLst>
              <a:gd fmla="val 5001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7"/>
          <p:cNvCxnSpPr>
            <a:stCxn id="117" idx="2"/>
            <a:endCxn id="113" idx="0"/>
          </p:cNvCxnSpPr>
          <p:nvPr/>
        </p:nvCxnSpPr>
        <p:spPr>
          <a:xfrm flipH="1" rot="-5400000">
            <a:off x="5689850" y="1394138"/>
            <a:ext cx="348300" cy="645000"/>
          </a:xfrm>
          <a:prstGeom prst="curvedConnector3">
            <a:avLst>
              <a:gd fmla="val 4998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7"/>
          <p:cNvCxnSpPr>
            <a:stCxn id="113" idx="2"/>
            <a:endCxn id="115" idx="0"/>
          </p:cNvCxnSpPr>
          <p:nvPr/>
        </p:nvCxnSpPr>
        <p:spPr>
          <a:xfrm rot="5400000">
            <a:off x="4986951" y="1728219"/>
            <a:ext cx="350700" cy="2048400"/>
          </a:xfrm>
          <a:prstGeom prst="curvedConnector3">
            <a:avLst>
              <a:gd fmla="val 5001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7"/>
          <p:cNvCxnSpPr>
            <a:stCxn id="114" idx="2"/>
            <a:endCxn id="115" idx="0"/>
          </p:cNvCxnSpPr>
          <p:nvPr/>
        </p:nvCxnSpPr>
        <p:spPr>
          <a:xfrm flipH="1" rot="-5400000">
            <a:off x="3062025" y="1851500"/>
            <a:ext cx="350700" cy="1801800"/>
          </a:xfrm>
          <a:prstGeom prst="curvedConnector3">
            <a:avLst>
              <a:gd fmla="val 5001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7"/>
          <p:cNvCxnSpPr>
            <a:stCxn id="115" idx="2"/>
            <a:endCxn id="116" idx="0"/>
          </p:cNvCxnSpPr>
          <p:nvPr/>
        </p:nvCxnSpPr>
        <p:spPr>
          <a:xfrm flipH="1" rot="-5400000">
            <a:off x="3963175" y="3789300"/>
            <a:ext cx="350700" cy="600"/>
          </a:xfrm>
          <a:prstGeom prst="curvedConnector3">
            <a:avLst>
              <a:gd fmla="val 5001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3530000" y="260650"/>
            <a:ext cx="2384400" cy="7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D9EEB"/>
                </a:solidFill>
              </a:rPr>
              <a:t>Diferencias</a:t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1824650" y="1081200"/>
            <a:ext cx="78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F#</a:t>
            </a:r>
            <a:endParaRPr sz="3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6414725" y="1081200"/>
            <a:ext cx="78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s" sz="3400">
                <a:latin typeface="Roboto"/>
                <a:ea typeface="Roboto"/>
                <a:cs typeface="Roboto"/>
                <a:sym typeface="Roboto"/>
              </a:rPr>
              <a:t>#</a:t>
            </a:r>
            <a:endParaRPr sz="3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1148825" y="1832150"/>
            <a:ext cx="24930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Principalmente funcional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Variables inmutables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Inferencia de tipos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Seguridad ante registros nulos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5361225" y="1832150"/>
            <a:ext cx="3086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" sz="1600">
                <a:latin typeface="Roboto"/>
                <a:ea typeface="Roboto"/>
                <a:cs typeface="Roboto"/>
                <a:sym typeface="Roboto"/>
              </a:rPr>
              <a:t>Principalmente imperativo y orientado a objetos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" sz="1600">
                <a:latin typeface="Roboto"/>
                <a:ea typeface="Roboto"/>
                <a:cs typeface="Roboto"/>
                <a:sym typeface="Roboto"/>
              </a:rPr>
              <a:t>Variables mutables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" sz="1600">
                <a:latin typeface="Roboto"/>
                <a:ea typeface="Roboto"/>
                <a:cs typeface="Roboto"/>
                <a:sym typeface="Roboto"/>
              </a:rPr>
              <a:t>Necesidad de explicitar tipos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" sz="1600">
                <a:latin typeface="Roboto"/>
                <a:ea typeface="Roboto"/>
                <a:cs typeface="Roboto"/>
                <a:sym typeface="Roboto"/>
              </a:rPr>
              <a:t>Posibilidad de errores por registros nulos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4653175" y="802925"/>
            <a:ext cx="4384800" cy="22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3307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Algoritmos elegidos</a:t>
            </a:r>
            <a:endParaRPr sz="3307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43858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7"/>
              <a:buFont typeface="Merriweather"/>
              <a:buAutoNum type="arabicPeriod"/>
            </a:pPr>
            <a:r>
              <a:rPr lang="es" sz="3307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QuickSort</a:t>
            </a:r>
            <a:endParaRPr sz="3307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43858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7"/>
              <a:buFont typeface="Merriweather"/>
              <a:buAutoNum type="arabicPeriod"/>
            </a:pPr>
            <a:r>
              <a:rPr lang="es" sz="3307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Búsqueda</a:t>
            </a:r>
            <a:r>
              <a:rPr lang="es" sz="3307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Binaria</a:t>
            </a:r>
            <a:endParaRPr sz="3307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8" name="Google Shape;138;p19"/>
          <p:cNvSpPr txBox="1"/>
          <p:nvPr>
            <p:ph type="title"/>
          </p:nvPr>
        </p:nvSpPr>
        <p:spPr>
          <a:xfrm>
            <a:off x="673825" y="729125"/>
            <a:ext cx="3185100" cy="18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720"/>
              <a:t>Benchmark     F# vs C#</a:t>
            </a:r>
            <a:endParaRPr sz="3720"/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575" y="2782188"/>
            <a:ext cx="2088750" cy="208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1012800" y="5083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</a:t>
            </a:r>
            <a:r>
              <a:rPr lang="es"/>
              <a:t> </a:t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1012800" y="1532600"/>
            <a:ext cx="7126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" sz="1600"/>
              <a:t>BenchmarkDotNet: Iteraciones + </a:t>
            </a:r>
            <a:r>
              <a:rPr b="1" i="1" lang="es" sz="1550"/>
              <a:t>Metricas + </a:t>
            </a:r>
            <a:r>
              <a:rPr b="1" i="1" lang="es" sz="1550"/>
              <a:t>Warmup + SO </a:t>
            </a:r>
            <a:endParaRPr b="1" sz="15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" sz="1600"/>
              <a:t>Mismo Seed en ambos lenguajes al generar los arreglos</a:t>
            </a:r>
            <a:endParaRPr b="1"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" sz="1600"/>
              <a:t>QuickSort: int array[1.000.000]</a:t>
            </a:r>
            <a:endParaRPr b="1"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" sz="1600"/>
              <a:t>Búsqueda</a:t>
            </a:r>
            <a:r>
              <a:rPr b="1" lang="es" sz="1600"/>
              <a:t> Binaria: </a:t>
            </a:r>
            <a:r>
              <a:rPr b="1" lang="es" sz="1600"/>
              <a:t>int array [100.000] ordenados</a:t>
            </a:r>
            <a:endParaRPr b="1"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" sz="1600"/>
              <a:t>Comparación bajo distintos paradigmas</a:t>
            </a:r>
            <a:endParaRPr b="1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/>
        </p:nvSpPr>
        <p:spPr>
          <a:xfrm>
            <a:off x="220150" y="428625"/>
            <a:ext cx="89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Resultados: QuickSort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6165150" y="1018050"/>
            <a:ext cx="2505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</a:rPr>
              <a:t>Tiempo de Ejecución (</a:t>
            </a:r>
            <a:r>
              <a:rPr b="1" lang="es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Mean</a:t>
            </a:r>
            <a:r>
              <a:rPr b="1" lang="es" sz="1100">
                <a:solidFill>
                  <a:schemeClr val="lt1"/>
                </a:solidFill>
              </a:rPr>
              <a:t>)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" sz="1100">
                <a:solidFill>
                  <a:schemeClr val="lt1"/>
                </a:solidFill>
              </a:rPr>
              <a:t>F#: </a:t>
            </a:r>
            <a:r>
              <a:rPr lang="es" sz="1100">
                <a:solidFill>
                  <a:schemeClr val="lt1"/>
                </a:solidFill>
              </a:rPr>
              <a:t>~550.12 ms </a:t>
            </a:r>
            <a:r>
              <a:rPr i="1" lang="es" sz="1100">
                <a:solidFill>
                  <a:schemeClr val="lt1"/>
                </a:solidFill>
              </a:rPr>
              <a:t>(~7x más lento)</a:t>
            </a:r>
            <a:r>
              <a:rPr lang="es" sz="1100">
                <a:solidFill>
                  <a:schemeClr val="lt1"/>
                </a:solidFill>
              </a:rPr>
              <a:t>.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" sz="1100">
                <a:solidFill>
                  <a:schemeClr val="lt1"/>
                </a:solidFill>
              </a:rPr>
              <a:t>C#: </a:t>
            </a:r>
            <a:r>
              <a:rPr lang="es" sz="1100">
                <a:solidFill>
                  <a:schemeClr val="lt1"/>
                </a:solidFill>
              </a:rPr>
              <a:t> ~77.49 ms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</a:rPr>
              <a:t>Consumo de Memoria (</a:t>
            </a:r>
            <a:r>
              <a:rPr b="1" lang="es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Allocated</a:t>
            </a:r>
            <a:r>
              <a:rPr b="1" lang="es" sz="1100">
                <a:solidFill>
                  <a:schemeClr val="lt1"/>
                </a:solidFill>
              </a:rPr>
              <a:t>)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" sz="1100">
                <a:solidFill>
                  <a:schemeClr val="lt1"/>
                </a:solidFill>
              </a:rPr>
              <a:t>F#:</a:t>
            </a:r>
            <a:r>
              <a:rPr lang="es" sz="1100">
                <a:solidFill>
                  <a:schemeClr val="lt1"/>
                </a:solidFill>
              </a:rPr>
              <a:t> 544.4 MB </a:t>
            </a:r>
            <a:r>
              <a:rPr i="1" lang="es" sz="1100">
                <a:solidFill>
                  <a:schemeClr val="lt1"/>
                </a:solidFill>
              </a:rPr>
              <a:t>(creación masiva de listas inmutables)</a:t>
            </a:r>
            <a:r>
              <a:rPr lang="es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" sz="1100">
                <a:solidFill>
                  <a:schemeClr val="lt1"/>
                </a:solidFill>
              </a:rPr>
              <a:t>C#:</a:t>
            </a:r>
            <a:r>
              <a:rPr lang="es" sz="1100">
                <a:solidFill>
                  <a:schemeClr val="lt1"/>
                </a:solidFill>
              </a:rPr>
              <a:t> 0 </a:t>
            </a:r>
            <a:r>
              <a:rPr i="1" lang="es" sz="1100">
                <a:solidFill>
                  <a:schemeClr val="lt1"/>
                </a:solidFill>
              </a:rPr>
              <a:t>(Modificación directa sobre el arreglo)</a:t>
            </a:r>
            <a:r>
              <a:rPr lang="es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21" title="Bajo el paradigma que fueron pensad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0325"/>
            <a:ext cx="5860349" cy="334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/>
        </p:nvSpPr>
        <p:spPr>
          <a:xfrm>
            <a:off x="220150" y="428625"/>
            <a:ext cx="89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Resultados: QuickSort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6247200" y="1033475"/>
            <a:ext cx="2751900" cy="3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</a:rPr>
              <a:t>Tiempo de Ejecución (</a:t>
            </a:r>
            <a:r>
              <a:rPr b="1" lang="es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Mean</a:t>
            </a:r>
            <a:r>
              <a:rPr b="1" lang="es" sz="1100">
                <a:solidFill>
                  <a:schemeClr val="lt1"/>
                </a:solidFill>
              </a:rPr>
              <a:t>)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" sz="1100">
                <a:solidFill>
                  <a:schemeClr val="lt1"/>
                </a:solidFill>
              </a:rPr>
              <a:t>F#:</a:t>
            </a:r>
            <a:r>
              <a:rPr lang="es" sz="1100">
                <a:solidFill>
                  <a:schemeClr val="lt1"/>
                </a:solidFill>
              </a:rPr>
              <a:t> ~550.12 ms </a:t>
            </a:r>
            <a:r>
              <a:rPr i="1" lang="es" sz="1100">
                <a:solidFill>
                  <a:schemeClr val="lt1"/>
                </a:solidFill>
              </a:rPr>
              <a:t>(F# resulta un ~15% más rápido en este enfoque)</a:t>
            </a:r>
            <a:r>
              <a:rPr lang="es" sz="1100">
                <a:solidFill>
                  <a:schemeClr val="lt1"/>
                </a:solidFill>
              </a:rPr>
              <a:t>.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" sz="1100">
                <a:solidFill>
                  <a:schemeClr val="lt1"/>
                </a:solidFill>
              </a:rPr>
              <a:t>C# Funcional:</a:t>
            </a:r>
            <a:r>
              <a:rPr lang="es" sz="1100">
                <a:solidFill>
                  <a:schemeClr val="lt1"/>
                </a:solidFill>
              </a:rPr>
              <a:t> ~644.11 ms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</a:rPr>
              <a:t>Consumo de Memoria (</a:t>
            </a:r>
            <a:r>
              <a:rPr b="1" lang="es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Allocated</a:t>
            </a:r>
            <a:r>
              <a:rPr b="1" lang="es" sz="1100">
                <a:solidFill>
                  <a:schemeClr val="lt1"/>
                </a:solidFill>
              </a:rPr>
              <a:t>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" sz="1100">
                <a:solidFill>
                  <a:schemeClr val="lt1"/>
                </a:solidFill>
              </a:rPr>
              <a:t>F#:</a:t>
            </a:r>
            <a:r>
              <a:rPr lang="es" sz="1100">
                <a:solidFill>
                  <a:schemeClr val="lt1"/>
                </a:solidFill>
              </a:rPr>
              <a:t> ~544.4 MB </a:t>
            </a:r>
            <a:r>
              <a:rPr i="1" lang="es" sz="1100">
                <a:solidFill>
                  <a:schemeClr val="lt1"/>
                </a:solidFill>
              </a:rPr>
              <a:t>(C# consume menos memoria en esta implementación funcional)</a:t>
            </a:r>
            <a:r>
              <a:rPr lang="es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" sz="1100">
                <a:solidFill>
                  <a:schemeClr val="lt1"/>
                </a:solidFill>
              </a:rPr>
              <a:t>C# Funcional:</a:t>
            </a:r>
            <a:r>
              <a:rPr lang="es" sz="1100">
                <a:solidFill>
                  <a:schemeClr val="lt1"/>
                </a:solidFill>
              </a:rPr>
              <a:t> ~390.97 MB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22" title="Funcio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0325"/>
            <a:ext cx="5942400" cy="3395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/>
        </p:nvSpPr>
        <p:spPr>
          <a:xfrm>
            <a:off x="220150" y="428625"/>
            <a:ext cx="89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Resultados: QuickSort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6335550" y="1046250"/>
            <a:ext cx="2663100" cy="3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</a:rPr>
              <a:t>Tiempo de Ejecución (</a:t>
            </a:r>
            <a:r>
              <a:rPr b="1" lang="es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Mean</a:t>
            </a:r>
            <a:r>
              <a:rPr b="1" lang="es" sz="1100">
                <a:solidFill>
                  <a:schemeClr val="lt1"/>
                </a:solidFill>
              </a:rPr>
              <a:t>)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" sz="1100">
                <a:solidFill>
                  <a:schemeClr val="lt1"/>
                </a:solidFill>
              </a:rPr>
              <a:t>F#:</a:t>
            </a:r>
            <a:r>
              <a:rPr lang="es" sz="1100">
                <a:solidFill>
                  <a:schemeClr val="lt1"/>
                </a:solidFill>
              </a:rPr>
              <a:t> ~94.19 ms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" sz="1100">
                <a:solidFill>
                  <a:schemeClr val="lt1"/>
                </a:solidFill>
              </a:rPr>
              <a:t>C#:</a:t>
            </a:r>
            <a:r>
              <a:rPr lang="es" sz="1100">
                <a:solidFill>
                  <a:schemeClr val="lt1"/>
                </a:solidFill>
              </a:rPr>
              <a:t> ~77.49 ms </a:t>
            </a:r>
            <a:r>
              <a:rPr i="1" lang="es" sz="1100">
                <a:solidFill>
                  <a:schemeClr val="lt1"/>
                </a:solidFill>
              </a:rPr>
              <a:t>(C# muestra un mejor rendimiento temporal incluso al aplicar un enfoque imperativo).</a:t>
            </a:r>
            <a:endParaRPr i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3" title="Imperativ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0325"/>
            <a:ext cx="6030750" cy="3446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/>
        </p:nvSpPr>
        <p:spPr>
          <a:xfrm>
            <a:off x="220150" y="428625"/>
            <a:ext cx="89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Resultados: Busqueda Binaria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6335550" y="1046250"/>
            <a:ext cx="2663100" cy="3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</a:rPr>
              <a:t>Tiempo de ejecución (Mean)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>
                <a:solidFill>
                  <a:schemeClr val="lt1"/>
                </a:solidFill>
              </a:rPr>
              <a:t>F#: ~17,61 ms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" sz="1100">
                <a:solidFill>
                  <a:schemeClr val="lt1"/>
                </a:solidFill>
              </a:rPr>
              <a:t>C# ~17,55 ms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24" title="Imperativo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0325"/>
            <a:ext cx="6030750" cy="3446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2224425" y="469700"/>
            <a:ext cx="34110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Conclusiones</a:t>
            </a:r>
            <a:endParaRPr/>
          </a:p>
        </p:txBody>
      </p:sp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00" y="1398200"/>
            <a:ext cx="8455886" cy="374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2369150" y="2980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5500"/>
              <a:t>Preguntas</a:t>
            </a:r>
            <a:endParaRPr sz="5500"/>
          </a:p>
        </p:txBody>
      </p:sp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1017550" y="2139750"/>
            <a:ext cx="6784200" cy="21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6981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Merriweather"/>
              <a:buChar char="●"/>
            </a:pPr>
            <a:r>
              <a:rPr lang="es" sz="3177">
                <a:latin typeface="Merriweather"/>
                <a:ea typeface="Merriweather"/>
                <a:cs typeface="Merriweather"/>
                <a:sym typeface="Merriweather"/>
              </a:rPr>
              <a:t>¿Por qué el rendimiento en imperativo es parecido entre C# y F# ?</a:t>
            </a:r>
            <a:endParaRPr sz="3177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981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Merriweather"/>
              <a:buChar char="●"/>
            </a:pPr>
            <a:r>
              <a:rPr lang="es" sz="3177">
                <a:latin typeface="Merriweather"/>
                <a:ea typeface="Merriweather"/>
                <a:cs typeface="Merriweather"/>
                <a:sym typeface="Merriweather"/>
              </a:rPr>
              <a:t>¿Por qué el paradigma funcional utiliza más memoria en el algoritmo Quicksort?</a:t>
            </a:r>
            <a:endParaRPr sz="3177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981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Merriweather"/>
              <a:buChar char="●"/>
            </a:pPr>
            <a:r>
              <a:rPr lang="es" sz="3177">
                <a:latin typeface="Merriweather"/>
                <a:ea typeface="Merriweather"/>
                <a:cs typeface="Merriweather"/>
                <a:sym typeface="Merriweather"/>
              </a:rPr>
              <a:t>¿Qué razones hay para usar F# en vez de C#?</a:t>
            </a:r>
            <a:endParaRPr sz="3177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